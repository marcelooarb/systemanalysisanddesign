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autoAdjust="0"/>
    <p:restoredTop sz="65850" autoAdjust="0"/>
  </p:normalViewPr>
  <p:slideViewPr>
    <p:cSldViewPr snapToGrid="0">
      <p:cViewPr varScale="1">
        <p:scale>
          <a:sx n="82" d="100"/>
          <a:sy n="82" d="100"/>
        </p:scale>
        <p:origin x="21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12/14/25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highlights the main requirements of the </a:t>
            </a:r>
            <a:r>
              <a:rPr lang="en-US" sz="1200" kern="1200" dirty="0" err="1">
                <a:solidFill>
                  <a:schemeClr val="tx1"/>
                </a:solidFill>
                <a:effectLst/>
                <a:latin typeface="+mn-lt"/>
                <a:ea typeface="+mn-ea"/>
                <a:cs typeface="+mn-cs"/>
              </a:rPr>
              <a:t>DriverPass</a:t>
            </a:r>
            <a:r>
              <a:rPr lang="en-US" sz="1200" kern="1200" dirty="0">
                <a:solidFill>
                  <a:schemeClr val="tx1"/>
                </a:solidFill>
                <a:effectLst/>
                <a:latin typeface="+mn-lt"/>
                <a:ea typeface="+mn-ea"/>
                <a:cs typeface="+mn-cs"/>
              </a:rPr>
              <a:t> system. Functionally, the system allows customers to create accounts, schedule and manage driving lessons, and access practice tests online. From a nonfunctional perspective, the system must be web-based, easy to access from different devices, and dependable so users can rely on it at any time.</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use case diagram shows how different users interact with the </a:t>
            </a:r>
            <a:r>
              <a:rPr lang="en-US" sz="1200" kern="1200" dirty="0" err="1">
                <a:solidFill>
                  <a:schemeClr val="tx1"/>
                </a:solidFill>
                <a:effectLst/>
                <a:latin typeface="+mn-lt"/>
                <a:ea typeface="+mn-ea"/>
                <a:cs typeface="+mn-cs"/>
              </a:rPr>
              <a:t>DriverPass</a:t>
            </a:r>
            <a:r>
              <a:rPr lang="en-US" sz="1200" kern="1200" dirty="0">
                <a:solidFill>
                  <a:schemeClr val="tx1"/>
                </a:solidFill>
                <a:effectLst/>
                <a:latin typeface="+mn-lt"/>
                <a:ea typeface="+mn-ea"/>
                <a:cs typeface="+mn-cs"/>
              </a:rPr>
              <a:t> system. Customers use the system to register, schedule lessons, and take practice tests. Office staff help manage appointments, while administrators and IT staff maintain accounts, security, and reports. This diagram helps confirm that the system supports all required user roles.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activity diagram explains the step-by-step flow of a typical user interaction. It begins with user authentication and continues through decision points, such as whether a requested option is available. The diagram shows how the system guides users through each step until the task is completed and confirmation is provided.</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Security is a key part of the </a:t>
            </a:r>
            <a:r>
              <a:rPr lang="en-US" sz="1200" kern="1200" dirty="0" err="1">
                <a:solidFill>
                  <a:schemeClr val="tx1"/>
                </a:solidFill>
                <a:effectLst/>
                <a:latin typeface="+mn-lt"/>
                <a:ea typeface="+mn-ea"/>
                <a:cs typeface="+mn-cs"/>
              </a:rPr>
              <a:t>DriverPass</a:t>
            </a:r>
            <a:r>
              <a:rPr lang="en-US" sz="1200" kern="1200" dirty="0">
                <a:solidFill>
                  <a:schemeClr val="tx1"/>
                </a:solidFill>
                <a:effectLst/>
                <a:latin typeface="+mn-lt"/>
                <a:ea typeface="+mn-ea"/>
                <a:cs typeface="+mn-cs"/>
              </a:rPr>
              <a:t> system. Users must log in with secure credentials, and access is controlled based on roles. Sensitive data is protected through encryption, and accounts are monitored for repeated failed login attempts. These measures help protect both customer information and business data.</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outlines current system limitations. The system has limited offline functionality and initially supports only English. Some changes, such as modifying training packages, require administrative access. These limitations are acceptable for the initial release and can be addressed in future system updates.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12/14/25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12/14/25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t>DriverPass 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t>Marcelo Barbosa</a:t>
            </a: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dirty="0"/>
              <a:t>• Allow customers to register, log in, and manage accounts</a:t>
            </a:r>
          </a:p>
          <a:p>
            <a:pPr marL="0" indent="0">
              <a:buNone/>
            </a:pPr>
            <a:r>
              <a:rPr dirty="0"/>
              <a:t>• Allow customers to schedule, modify, and cancel driving lessons</a:t>
            </a:r>
          </a:p>
          <a:p>
            <a:endParaRPr dirty="0"/>
          </a:p>
          <a:p>
            <a:r>
              <a:rPr dirty="0"/>
              <a:t>Nonfunctional Requirements:</a:t>
            </a:r>
          </a:p>
          <a:p>
            <a:pPr marL="0" indent="0">
              <a:buNone/>
            </a:pPr>
            <a:r>
              <a:rPr dirty="0"/>
              <a:t>• System must be web-based and accessible on desktop and mobile devices</a:t>
            </a:r>
          </a:p>
          <a:p>
            <a:pPr marL="0" indent="0">
              <a:buNone/>
            </a:pPr>
            <a:r>
              <a:rPr dirty="0"/>
              <a:t>• System must be secure, reliable, and available at all times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r>
              <a:t>Shows how customers, staff, and administrators interact with the DriverPass system to schedule lessons, manage accounts, and track progress.</a:t>
            </a:r>
          </a:p>
        </p:txBody>
      </p:sp>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t>Activity Diagram</a:t>
            </a:r>
          </a:p>
        </p:txBody>
      </p:sp>
      <p:sp>
        <p:nvSpPr>
          <p:cNvPr id="3" name="Content Placeholder 2"/>
          <p:cNvSpPr>
            <a:spLocks noGrp="1"/>
          </p:cNvSpPr>
          <p:nvPr>
            <p:ph idx="1"/>
          </p:nvPr>
        </p:nvSpPr>
        <p:spPr>
          <a:xfrm>
            <a:off x="6090574" y="801866"/>
            <a:ext cx="5306084" cy="5230634"/>
          </a:xfrm>
        </p:spPr>
        <p:txBody>
          <a:bodyPr anchor="ctr">
            <a:normAutofit/>
          </a:bodyPr>
          <a:lstStyle/>
          <a:p>
            <a:r>
              <a:t>Illustrates the step-by-step flow a user follows when completing actions such as logging in, selecting services, and receiving confirmation.</a:t>
            </a:r>
          </a:p>
        </p:txBody>
      </p:sp>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dirty="0"/>
              <a:t>• Secure login with encrypted credentials</a:t>
            </a:r>
          </a:p>
          <a:p>
            <a:pPr marL="0" indent="0">
              <a:buNone/>
            </a:pPr>
            <a:r>
              <a:rPr dirty="0"/>
              <a:t>• Role-based access for customers, staff, and administrators</a:t>
            </a:r>
          </a:p>
          <a:p>
            <a:pPr marL="0" indent="0">
              <a:buNone/>
            </a:pPr>
            <a:r>
              <a:rPr dirty="0"/>
              <a:t>• Account lockout after repeated failed login attempts</a:t>
            </a:r>
          </a:p>
          <a:p>
            <a:pPr marL="0" indent="0">
              <a:buNone/>
            </a:pPr>
            <a:r>
              <a:rPr dirty="0"/>
              <a:t>• Secure storage of sensitive data</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marL="0" indent="0">
              <a:buNone/>
            </a:pPr>
            <a:r>
              <a:rPr dirty="0"/>
              <a:t>• Limited offline functionality</a:t>
            </a:r>
          </a:p>
          <a:p>
            <a:pPr marL="0" indent="0">
              <a:buNone/>
            </a:pPr>
            <a:r>
              <a:rPr dirty="0"/>
              <a:t>• Initial system supports English only</a:t>
            </a:r>
          </a:p>
          <a:p>
            <a:pPr marL="0" indent="0">
              <a:buNone/>
            </a:pPr>
            <a:r>
              <a:rPr dirty="0"/>
              <a:t>• Package changes require administrative approval</a:t>
            </a:r>
          </a:p>
          <a:p>
            <a:pPr marL="0" indent="0">
              <a:buNone/>
            </a:pPr>
            <a:r>
              <a:rPr dirty="0"/>
              <a:t>• Future enhancements may be needed as business grows</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1349</TotalTime>
  <Words>464</Words>
  <Application>Microsoft Macintosh PowerPoint</Application>
  <PresentationFormat>Widescreen</PresentationFormat>
  <Paragraphs>35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Mariza Barbosa</cp:lastModifiedBy>
  <cp:revision>24</cp:revision>
  <dcterms:created xsi:type="dcterms:W3CDTF">2019-10-14T02:36:52Z</dcterms:created>
  <dcterms:modified xsi:type="dcterms:W3CDTF">2025-12-15T01:11:49Z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